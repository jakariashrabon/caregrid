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CareGrid.io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6583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A Unified Digital Platform for Hospital Care,
Blood &amp; Organ Coordination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3154680" cy="384048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SOFTWARE ENGINEERING LAB • CSE 3422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307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CDBEF"/>
                </a:solidFill>
                <a:latin typeface="Aptos"/>
              </a:rPr>
              <a:t>Project Idea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914400"/>
            <a:ext cx="2834640" cy="713232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097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ORGAN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01952"/>
            <a:ext cx="2834640" cy="713232"/>
          </a:xfrm>
          <a:prstGeom prst="round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0848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BLOOD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889504"/>
            <a:ext cx="2834640" cy="713232"/>
          </a:xfrm>
          <a:prstGeom prst="roundRect">
            <a:avLst/>
          </a:prstGeom>
          <a:solidFill>
            <a:srgbClr val="37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0723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PATIENT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877056"/>
            <a:ext cx="2834640" cy="713232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0599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PHARMACY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864608"/>
            <a:ext cx="2834640" cy="713232"/>
          </a:xfrm>
          <a:prstGeom prst="round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5047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BILLING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407408"/>
            <a:ext cx="6720840" cy="1901952"/>
          </a:xfrm>
          <a:prstGeom prst="roundRect">
            <a:avLst/>
          </a:prstGeom>
          <a:solidFill>
            <a:srgbClr val="1B2D4E"/>
          </a:solidFill>
          <a:ln w="15875">
            <a:solidFill>
              <a:srgbClr val="1DA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4572000"/>
            <a:ext cx="6382512" cy="384048"/>
          </a:xfrm>
          <a:prstGeom prst="roundRect">
            <a:avLst/>
          </a:prstGeom>
          <a:solidFill>
            <a:srgbClr val="23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17720"/>
            <a:ext cx="35204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UNITED INTERNATIONAL UNIVERSITY (UIU)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617720"/>
            <a:ext cx="2423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AEC4DB"/>
                </a:solidFill>
                <a:latin typeface="Aptos"/>
              </a:rPr>
              <a:t>Software Engineering Lab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74920"/>
            <a:ext cx="1389888" cy="347472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5120640"/>
            <a:ext cx="126187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TEAM  •  MedMatrix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5047488"/>
            <a:ext cx="2212848" cy="457200"/>
          </a:xfrm>
          <a:prstGeom prst="roundRect">
            <a:avLst/>
          </a:prstGeom>
          <a:solidFill>
            <a:srgbClr val="233658"/>
          </a:solidFill>
          <a:ln w="8890">
            <a:solidFill>
              <a:srgbClr val="43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6896" y="5097779"/>
            <a:ext cx="14813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  <a:latin typeface="Aptos"/>
              </a:rPr>
              <a:t>Zafar Muhammad Amran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5289803"/>
            <a:ext cx="1481328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EC4DB"/>
                </a:solidFill>
                <a:latin typeface="Aptos"/>
              </a:rPr>
              <a:t>0112230946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51376" y="5143500"/>
            <a:ext cx="411480" cy="256032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51376" y="516178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8032" y="5047488"/>
            <a:ext cx="2212848" cy="457200"/>
          </a:xfrm>
          <a:prstGeom prst="roundRect">
            <a:avLst/>
          </a:prstGeom>
          <a:solidFill>
            <a:srgbClr val="233658"/>
          </a:solidFill>
          <a:ln w="8890">
            <a:solidFill>
              <a:srgbClr val="43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5097779"/>
            <a:ext cx="14813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  <a:latin typeface="Aptos"/>
              </a:rPr>
              <a:t>Md Siam Rahman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289803"/>
            <a:ext cx="1481328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EC4DB"/>
                </a:solidFill>
                <a:latin typeface="Aptos"/>
              </a:rPr>
              <a:t>0112331150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143500"/>
            <a:ext cx="411480" cy="256032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16178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87168" y="5605272"/>
            <a:ext cx="2212848" cy="457200"/>
          </a:xfrm>
          <a:prstGeom prst="roundRect">
            <a:avLst/>
          </a:prstGeom>
          <a:solidFill>
            <a:srgbClr val="233658"/>
          </a:solidFill>
          <a:ln w="8890">
            <a:solidFill>
              <a:srgbClr val="43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96896" y="5655564"/>
            <a:ext cx="14813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  <a:latin typeface="Aptos"/>
              </a:rPr>
              <a:t>Jakaria Bhuiyan Shrabon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5847588"/>
            <a:ext cx="1481328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EC4DB"/>
                </a:solidFill>
                <a:latin typeface="Aptos"/>
              </a:rPr>
              <a:t>011221093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51376" y="5701284"/>
            <a:ext cx="411480" cy="256032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51376" y="571957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28032" y="5605272"/>
            <a:ext cx="2212848" cy="457200"/>
          </a:xfrm>
          <a:prstGeom prst="roundRect">
            <a:avLst/>
          </a:prstGeom>
          <a:solidFill>
            <a:srgbClr val="233658"/>
          </a:solidFill>
          <a:ln w="8890">
            <a:solidFill>
              <a:srgbClr val="43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5655564"/>
            <a:ext cx="14813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  <a:latin typeface="Aptos"/>
              </a:rPr>
              <a:t>Madhobi Akter Munni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847588"/>
            <a:ext cx="1481328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EC4DB"/>
                </a:solidFill>
                <a:latin typeface="Aptos"/>
              </a:rPr>
              <a:t>0112230481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5701284"/>
            <a:ext cx="411480" cy="256032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71957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The Problem: Critical Care Is Fragmented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Five hospital workflows often operate through disconnected registers, spreadsheets, phone calls, and separate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1663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572768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79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Emergency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58568"/>
            <a:ext cx="4709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Manual donor/recipient cross-checking and phone-tree blood searches slow time-critical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663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73152" cy="1572768"/>
          </a:xfrm>
          <a:prstGeom prst="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379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Duplicate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58568"/>
            <a:ext cx="4709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Separate systems create repeated data entry and inconsistent patient, stock, and billing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1663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73152" cy="1572768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Family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70248"/>
            <a:ext cx="4709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Families repeatedly contact wards because updates are not available through a reliable channel.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03320"/>
            <a:ext cx="51663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73152" cy="1572768"/>
          </a:xfrm>
          <a:prstGeom prst="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4962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Preventable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70248"/>
            <a:ext cx="4709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Handwritten prescriptions, manual stock counts, and billing calculations increase error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203E"/>
                </a:solidFill>
                <a:latin typeface="Aptos"/>
              </a:rPr>
              <a:t>Design opportunity: one secure platform, one shared data context, role-based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Our Solution: One Care Coordination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CareGrid.io unifies five interdependent hospital functions under a shared identity, database, and notification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481328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A1B5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379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Organ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Compatibility scoring • waiting list • ischemia timer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73152" cy="1481328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8562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3494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8379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Smart Blood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58568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Inventory • SOS broadcast • donor eligibility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691640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691640"/>
            <a:ext cx="73152" cy="1481328"/>
          </a:xfrm>
          <a:prstGeom prst="rect">
            <a:avLst/>
          </a:prstGeom>
          <a:solidFill>
            <a:srgbClr val="37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8562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9967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18379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Patient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58568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Vitals • family portal • bed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73152" cy="1481328"/>
          </a:xfrm>
          <a:prstGeom prst="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82219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78E37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8039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E‑Prescription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24528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Digital routing • interaction/allergy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657600"/>
            <a:ext cx="3383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657600"/>
            <a:ext cx="73152" cy="1481328"/>
          </a:xfrm>
          <a:prstGeom prst="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382219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5BA6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8039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Billing &amp; Discharge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24528"/>
            <a:ext cx="2926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Itemized billing • claims • digital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6758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03E"/>
                </a:solidFill>
                <a:latin typeface="Aptos"/>
              </a:rPr>
              <a:t>Shared foundation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096512"/>
            <a:ext cx="2971800" cy="384048"/>
          </a:xfrm>
          <a:prstGeom prst="roundRect">
            <a:avLst/>
          </a:prstGeom>
          <a:solidFill>
            <a:srgbClr val="12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Authentication &amp; RBAC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4626864"/>
            <a:ext cx="2971800" cy="384048"/>
          </a:xfrm>
          <a:prstGeom prst="roundRect">
            <a:avLst/>
          </a:prstGeom>
          <a:solidFill>
            <a:srgbClr val="19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Relational database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5157216"/>
            <a:ext cx="2971800" cy="384048"/>
          </a:xfrm>
          <a:prstGeom prst="round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SMS + Email 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Who Uses CareGrid.io?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Role-based access keeps each user focused on the information and actions relevant to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417320"/>
          </a:xfrm>
          <a:prstGeom prst="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Patient records, organ matches, e-prescriptions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6002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600200"/>
            <a:ext cx="73152" cy="1417320"/>
          </a:xfrm>
          <a:prstGeom prst="rect">
            <a:avLst/>
          </a:prstGeom>
          <a:solidFill>
            <a:srgbClr val="37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74650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Nurse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16712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Vitals, daily updates, ward/bed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3" y="16002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3" y="1600200"/>
            <a:ext cx="73152" cy="1417320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174650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Blood-bank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216712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Inventory, donor search, emergency SOS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73152" cy="1417320"/>
          </a:xfrm>
          <a:prstGeom prst="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2102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Pharmacist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Prescription queue, safety checks, stock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34747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62272" y="3474720"/>
            <a:ext cx="73152" cy="1417320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62102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Billing Officer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0416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Charges, insurance status, discharge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3" y="34747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3" y="3474720"/>
            <a:ext cx="73152" cy="1417320"/>
          </a:xfrm>
          <a:prstGeom prst="rect">
            <a:avLst/>
          </a:prstGeom>
          <a:solidFill>
            <a:srgbClr val="19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3063" y="362102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Patient / Family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3" y="40416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Read-only care updates and discharge information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03E"/>
                </a:solidFill>
                <a:latin typeface="Aptos"/>
              </a:rPr>
              <a:t>Principle: least-privilege access + traceable actions for sensitive medical and financial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Module 1 — Organ Donation &amp; Compatibility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Rank medically valid matches quickly while preserving urgency, fairness, and logistics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73152" cy="1417320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Compatibility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Blood group + HLA compatibility + urgency + geolocation/distance.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7276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72768"/>
            <a:ext cx="73152" cy="1417320"/>
          </a:xfrm>
          <a:prstGeom prst="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190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Waiting-list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39696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Clinical urgency (e.g., MELD/PELD) combined with time already waiting.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73152" cy="1417320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190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Cold-Ischemia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39696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Live preservation countdowns and escalating alerts for organs in transit.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40156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401568"/>
            <a:ext cx="73152" cy="1417320"/>
          </a:xfrm>
          <a:prstGeom prst="rect">
            <a:avLst/>
          </a:prstGeom>
          <a:solidFill>
            <a:srgbClr val="19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5478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Living Donor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968496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Anonymous registration with online eligibility screening.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0156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401568"/>
            <a:ext cx="73152" cy="1417320"/>
          </a:xfrm>
          <a:prstGeom prst="rect">
            <a:avLst/>
          </a:prstGeom>
          <a:solidFill>
            <a:srgbClr val="37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478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Clinician 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68496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Surface ranked candidates; clinicians retain medical decision authority.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03E"/>
                </a:solidFill>
                <a:latin typeface="Aptos"/>
              </a:rPr>
              <a:t>Core value: replace slow manual cross-checking with a structured, auditable matching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Module 2 — Smart Blood Bank &amp; Emergency 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Turn inventory shortages into a targeted donor-mobilization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2240280"/>
          </a:xfrm>
          <a:prstGeom prst="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5BA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75104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Track Whole Blood, RBC, Platelets &amp; Plasma; flag low stock/expiry.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51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4707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82880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828800"/>
            <a:ext cx="73152" cy="2240280"/>
          </a:xfrm>
          <a:prstGeom prst="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9933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78E37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1975104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395728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Required blood type + eligibility; block donations within 56 days.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651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4707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82880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1828800"/>
            <a:ext cx="73152" cy="2240280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9933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A1B5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1975104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Locate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395728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Map nearby eligible donors relative to the requesting hospital.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651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4707E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182880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34856" y="1828800"/>
            <a:ext cx="73152" cy="2240280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6024" y="19933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34949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197510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Broadcast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2395728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Send SMS / email SOS to registered matching donors.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03E"/>
                </a:solidFill>
                <a:latin typeface="Aptos"/>
              </a:rPr>
              <a:t>Emergency objective: reduce the time between shortage detection and finding a realistic donor source.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Modules 3 &amp; 4 — Safer Daily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Connect clinical updates, family visibility, prescriptions, and pharmacy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73152" cy="1417320"/>
          </a:xfrm>
          <a:prstGeom prst="rect">
            <a:avLst/>
          </a:prstGeom>
          <a:solidFill>
            <a:srgbClr val="37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Patient Timeline &amp; Vitals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Temperature, blood pressure, oxygen levels, and medication charts visualized for trend recognition.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18688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18688"/>
            <a:ext cx="73152" cy="1417320"/>
          </a:xfrm>
          <a:prstGeom prst="rect">
            <a:avLst/>
          </a:prstGeom>
          <a:solidFill>
            <a:srgbClr val="19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Family Portal + Bed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85615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Read-only daily updates reduce repeated calls; ward grid shows Occupied / Available / Cleaning / Reserved.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72768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72768"/>
            <a:ext cx="73152" cy="1417320"/>
          </a:xfrm>
          <a:prstGeom prst="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190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Digital Prescription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3969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Doctor creates prescription in-platform and routes it directly to the hospital pharmacy.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18688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18688"/>
            <a:ext cx="73152" cy="1417320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6499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Safety + Inventory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85615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Flag drug interactions/allergies before finalization; deduct stock automatically when dispensed.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03E"/>
                </a:solidFill>
                <a:latin typeface="Aptos"/>
              </a:rPr>
              <a:t>Shared outcome: fewer transcription errors and clearer information flow across care teams.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Module 5 — Billing, Insurance &amp; Discharge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Close the patient journey with a transparent, digital administrative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2057400"/>
          </a:xfrm>
          <a:prstGeom prst="rect">
            <a:avLst/>
          </a:prstGeom>
          <a:solidFill>
            <a:srgbClr val="22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Itemized Billing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Room charges + pharmacy + surgery + consultation fees are calculated into one bill.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73152" cy="2057400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7510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Claim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95728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Insurance submissions show clear Approval / Rejection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828800"/>
            <a:ext cx="73152" cy="2057400"/>
          </a:xfrm>
          <a:prstGeom prst="rect">
            <a:avLst/>
          </a:prstGeom>
          <a:solidFill>
            <a:srgbClr val="37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97510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Digital Discharge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395728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One-click stay report with lab results and post-discharge medication schedule as PDF.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03E"/>
                </a:solidFill>
                <a:latin typeface="Aptos"/>
              </a:rPr>
              <a:t>From admission to discharge, the same patient context follows the workflow — reducing reconciliation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Use Case Diagram — CareGrid.io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High-level actor-to-system interactions across the five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17320"/>
            <a:ext cx="6263640" cy="4709160"/>
          </a:xfrm>
          <a:prstGeom prst="roundRect">
            <a:avLst/>
          </a:prstGeom>
          <a:noFill/>
          <a:ln w="25400">
            <a:solidFill>
              <a:srgbClr val="12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03E"/>
                </a:solidFill>
                <a:latin typeface="Aptos"/>
              </a:rPr>
              <a:t>CareGrid.io System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1554480"/>
            <a:ext cx="292608" cy="292608"/>
          </a:xfrm>
          <a:prstGeom prst="ellipse">
            <a:avLst/>
          </a:prstGeom>
          <a:noFill/>
          <a:ln>
            <a:solidFill>
              <a:srgbClr val="23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50976" y="1847088"/>
            <a:ext cx="0" cy="45720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7512" y="2029967"/>
            <a:ext cx="566928" cy="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5800" y="2304288"/>
            <a:ext cx="265176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" y="2304288"/>
            <a:ext cx="265176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" y="26334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E"/>
                </a:solidFill>
                <a:latin typeface="Aptos"/>
              </a:rPr>
              <a:t>Doctor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069080"/>
            <a:ext cx="292608" cy="292608"/>
          </a:xfrm>
          <a:prstGeom prst="ellipse">
            <a:avLst/>
          </a:prstGeom>
          <a:noFill/>
          <a:ln>
            <a:solidFill>
              <a:srgbClr val="23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50976" y="4361688"/>
            <a:ext cx="0" cy="45720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7512" y="4544568"/>
            <a:ext cx="566928" cy="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85800" y="4818888"/>
            <a:ext cx="265176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" y="4818888"/>
            <a:ext cx="265176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" y="5148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E"/>
                </a:solidFill>
                <a:latin typeface="Aptos"/>
              </a:rPr>
              <a:t>Nurse</a:t>
            </a:r>
          </a:p>
        </p:txBody>
      </p:sp>
      <p:sp>
        <p:nvSpPr>
          <p:cNvPr id="20" name="Oval 19"/>
          <p:cNvSpPr/>
          <p:nvPr/>
        </p:nvSpPr>
        <p:spPr>
          <a:xfrm>
            <a:off x="10680192" y="1554480"/>
            <a:ext cx="292608" cy="292608"/>
          </a:xfrm>
          <a:prstGeom prst="ellipse">
            <a:avLst/>
          </a:prstGeom>
          <a:noFill/>
          <a:ln>
            <a:solidFill>
              <a:srgbClr val="23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826496" y="1847088"/>
            <a:ext cx="0" cy="45720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43032" y="2029967"/>
            <a:ext cx="566927" cy="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561319" y="2304288"/>
            <a:ext cx="265177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26496" y="2304288"/>
            <a:ext cx="265176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49840" y="26334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E"/>
                </a:solidFill>
                <a:latin typeface="Aptos"/>
              </a:rPr>
              <a:t>Blood-bank
Coordinator</a:t>
            </a:r>
          </a:p>
        </p:txBody>
      </p:sp>
      <p:sp>
        <p:nvSpPr>
          <p:cNvPr id="26" name="Oval 25"/>
          <p:cNvSpPr/>
          <p:nvPr/>
        </p:nvSpPr>
        <p:spPr>
          <a:xfrm>
            <a:off x="10680192" y="4069080"/>
            <a:ext cx="292608" cy="292608"/>
          </a:xfrm>
          <a:prstGeom prst="ellipse">
            <a:avLst/>
          </a:prstGeom>
          <a:noFill/>
          <a:ln>
            <a:solidFill>
              <a:srgbClr val="23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826496" y="4361688"/>
            <a:ext cx="0" cy="45720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43032" y="4544568"/>
            <a:ext cx="566927" cy="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561319" y="4818888"/>
            <a:ext cx="265177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26496" y="4818888"/>
            <a:ext cx="265176" cy="329184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149840" y="5148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E"/>
                </a:solidFill>
                <a:latin typeface="Aptos"/>
              </a:rPr>
              <a:t>Patient /
Family</a:t>
            </a:r>
          </a:p>
        </p:txBody>
      </p:sp>
      <p:sp>
        <p:nvSpPr>
          <p:cNvPr id="32" name="Oval 31"/>
          <p:cNvSpPr/>
          <p:nvPr/>
        </p:nvSpPr>
        <p:spPr>
          <a:xfrm>
            <a:off x="1947672" y="2743200"/>
            <a:ext cx="292608" cy="292608"/>
          </a:xfrm>
          <a:prstGeom prst="ellipse">
            <a:avLst/>
          </a:prstGeom>
          <a:noFill/>
          <a:ln>
            <a:solidFill>
              <a:srgbClr val="23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093976" y="3035808"/>
            <a:ext cx="0" cy="45720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10512" y="3218688"/>
            <a:ext cx="566927" cy="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828800" y="3493008"/>
            <a:ext cx="265176" cy="329183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93976" y="3493008"/>
            <a:ext cx="265176" cy="329183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17319" y="3822191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E"/>
                </a:solidFill>
                <a:latin typeface="Aptos"/>
              </a:rPr>
              <a:t>Pharmacist</a:t>
            </a:r>
          </a:p>
        </p:txBody>
      </p:sp>
      <p:sp>
        <p:nvSpPr>
          <p:cNvPr id="38" name="Oval 37"/>
          <p:cNvSpPr/>
          <p:nvPr/>
        </p:nvSpPr>
        <p:spPr>
          <a:xfrm>
            <a:off x="9537192" y="2743200"/>
            <a:ext cx="292608" cy="292608"/>
          </a:xfrm>
          <a:prstGeom prst="ellipse">
            <a:avLst/>
          </a:prstGeom>
          <a:noFill/>
          <a:ln>
            <a:solidFill>
              <a:srgbClr val="23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683496" y="3035808"/>
            <a:ext cx="0" cy="45720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00032" y="3218688"/>
            <a:ext cx="566927" cy="0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418319" y="3493008"/>
            <a:ext cx="265177" cy="329183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83496" y="3493008"/>
            <a:ext cx="265176" cy="329183"/>
          </a:xfrm>
          <a:prstGeom prst="line">
            <a:avLst/>
          </a:prstGeom>
          <a:ln>
            <a:solidFill>
              <a:srgbClr val="232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06840" y="3822191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203E"/>
                </a:solidFill>
                <a:latin typeface="Aptos"/>
              </a:rPr>
              <a:t>Billing
Officer</a:t>
            </a:r>
          </a:p>
        </p:txBody>
      </p:sp>
      <p:sp>
        <p:nvSpPr>
          <p:cNvPr id="44" name="Oval 43"/>
          <p:cNvSpPr/>
          <p:nvPr/>
        </p:nvSpPr>
        <p:spPr>
          <a:xfrm>
            <a:off x="3383280" y="1828800"/>
            <a:ext cx="22860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A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196596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Match donor &amp; recipient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18288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1965960"/>
            <a:ext cx="21854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Manage blood / send SOS</a:t>
            </a:r>
          </a:p>
        </p:txBody>
      </p:sp>
      <p:sp>
        <p:nvSpPr>
          <p:cNvPr id="48" name="Oval 47"/>
          <p:cNvSpPr/>
          <p:nvPr/>
        </p:nvSpPr>
        <p:spPr>
          <a:xfrm>
            <a:off x="3383280" y="2788920"/>
            <a:ext cx="22860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56432" y="2926079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Log vitals / updates</a:t>
            </a:r>
          </a:p>
        </p:txBody>
      </p:sp>
      <p:sp>
        <p:nvSpPr>
          <p:cNvPr id="50" name="Oval 49"/>
          <p:cNvSpPr/>
          <p:nvPr/>
        </p:nvSpPr>
        <p:spPr>
          <a:xfrm>
            <a:off x="6217920" y="27889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2926079"/>
            <a:ext cx="21854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View family updates</a:t>
            </a:r>
          </a:p>
        </p:txBody>
      </p:sp>
      <p:sp>
        <p:nvSpPr>
          <p:cNvPr id="52" name="Oval 51"/>
          <p:cNvSpPr/>
          <p:nvPr/>
        </p:nvSpPr>
        <p:spPr>
          <a:xfrm>
            <a:off x="3383280" y="3749039"/>
            <a:ext cx="22860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7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56432" y="388620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Create e-prescription</a:t>
            </a:r>
          </a:p>
        </p:txBody>
      </p:sp>
      <p:sp>
        <p:nvSpPr>
          <p:cNvPr id="54" name="Oval 53"/>
          <p:cNvSpPr/>
          <p:nvPr/>
        </p:nvSpPr>
        <p:spPr>
          <a:xfrm>
            <a:off x="6217920" y="3749039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7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3886200"/>
            <a:ext cx="21854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Dispense &amp; update stock</a:t>
            </a:r>
          </a:p>
        </p:txBody>
      </p:sp>
      <p:sp>
        <p:nvSpPr>
          <p:cNvPr id="56" name="Oval 55"/>
          <p:cNvSpPr/>
          <p:nvPr/>
        </p:nvSpPr>
        <p:spPr>
          <a:xfrm>
            <a:off x="3383280" y="4709160"/>
            <a:ext cx="22860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56432" y="48463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Manage beds / wards</a:t>
            </a:r>
          </a:p>
        </p:txBody>
      </p:sp>
      <p:sp>
        <p:nvSpPr>
          <p:cNvPr id="58" name="Oval 57"/>
          <p:cNvSpPr/>
          <p:nvPr/>
        </p:nvSpPr>
        <p:spPr>
          <a:xfrm>
            <a:off x="6217920" y="470916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4846320"/>
            <a:ext cx="21854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32B36"/>
                </a:solidFill>
                <a:latin typeface="Aptos"/>
              </a:rPr>
              <a:t>Bill / claim / discharge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234440" y="2103120"/>
            <a:ext cx="2148840" cy="4572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234440" y="2148840"/>
            <a:ext cx="2148840" cy="187452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234440" y="3063240"/>
            <a:ext cx="2148840" cy="155448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234440" y="4617720"/>
            <a:ext cx="2148840" cy="36576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423160" y="3337560"/>
            <a:ext cx="960120" cy="68580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423160" y="3337560"/>
            <a:ext cx="3794760" cy="68580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8549640" y="2103120"/>
            <a:ext cx="1920240" cy="4572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8549640" y="3063240"/>
            <a:ext cx="1920240" cy="155448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8549640" y="3337560"/>
            <a:ext cx="777240" cy="1645920"/>
          </a:xfrm>
          <a:prstGeom prst="line">
            <a:avLst/>
          </a:prstGeom>
          <a:ln w="12700">
            <a:solidFill>
              <a:srgbClr val="64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Proposed High-Level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A modular web platform with shared identity, data consistency, notifications, and API-level RBAC.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463040"/>
            <a:ext cx="8458200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5BA6"/>
                </a:solidFill>
                <a:latin typeface="Aptos"/>
              </a:rPr>
              <a:t>Responsive Web Front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60020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Role-specific dashboards for clinical, administrative, patient and family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215798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4707E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2377440"/>
            <a:ext cx="8458200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2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5146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203E"/>
                </a:solidFill>
                <a:latin typeface="Aptos"/>
              </a:rPr>
              <a:t>Shared API +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Authentication, authorization, audit context, and access enforcement.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307238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4707E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291840"/>
            <a:ext cx="8458200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DA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34290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A1B5"/>
                </a:solidFill>
                <a:latin typeface="Aptos"/>
              </a:rPr>
              <a:t>Five Functional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2900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Organ • Blood • Patient • Pharmacy •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398678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4707E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4206240"/>
            <a:ext cx="8458200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9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4343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877E"/>
                </a:solidFill>
                <a:latin typeface="Aptos"/>
              </a:rPr>
              <a:t>Relational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4340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Strong consistency for medical, prescription, inventory, and financial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4901183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4707E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5120640"/>
            <a:ext cx="8458200" cy="7132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3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5257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4949"/>
                </a:solidFill>
                <a:latin typeface="Aptos"/>
              </a:rPr>
              <a:t>Notification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25780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SMS + email for emergency SOS and family-update alerts.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03E"/>
                </a:solidFill>
                <a:latin typeface="Aptos"/>
              </a:rPr>
              <a:t>Scope, Constraints &amp; Quality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54864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The current deliverable is the project idea and feature specification; detailed design and implementation follow in later phases.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03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2057400"/>
          </a:xfrm>
          <a:prstGeom prst="rect">
            <a:avLst/>
          </a:prstGeom>
          <a:solidFill>
            <a:srgbClr val="37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55063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• Organ matching &amp; waiting list
• Blood inventory &amp; donor alerting
• Vitals, family portal, ward/bed grid
• E-prescriptions &amp; pharmacy stock
• Billing, claims &amp; discharge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2057400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55063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Out of Scope — This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• External national organ-registry APIs
• External insurance-provider APIs
• Native mobile applications
• Telemedicine / video consultation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203E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24871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434840"/>
            <a:ext cx="73152" cy="1234440"/>
          </a:xfrm>
          <a:prstGeom prst="rect">
            <a:avLst/>
          </a:prstGeom>
          <a:solidFill>
            <a:srgbClr val="12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81144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Security &amp;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01768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Authentication, authorization, encryption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4434840"/>
            <a:ext cx="24871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39" y="4434840"/>
            <a:ext cx="73152" cy="1234440"/>
          </a:xfrm>
          <a:prstGeom prst="rect">
            <a:avLst/>
          </a:prstGeom>
          <a:solidFill>
            <a:srgbClr val="D3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4581144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001768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Resilient emergency and ischemia paths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4434840"/>
            <a:ext cx="24871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4434840"/>
            <a:ext cx="73152" cy="1234440"/>
          </a:xfrm>
          <a:prstGeom prst="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4581144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Auditability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5001768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Trace matches, prescriptions, billing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4434840"/>
            <a:ext cx="24871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4434840"/>
            <a:ext cx="73152" cy="1234440"/>
          </a:xfrm>
          <a:prstGeom prst="rect">
            <a:avLst/>
          </a:prstGeom>
          <a:solidFill>
            <a:srgbClr val="19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581144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03E"/>
                </a:solidFill>
                <a:latin typeface="Aptos"/>
              </a:rPr>
              <a:t>Scalability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001768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B36"/>
                </a:solidFill>
                <a:latin typeface="Aptos"/>
              </a:rPr>
              <a:t>Add hospitals/wards without redesign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07E"/>
                </a:solidFill>
                <a:latin typeface="Aptos"/>
              </a:rPr>
              <a:t>CareGrid.io  •  Team MedMatrix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7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Why CareGrid.io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DEEF"/>
                </a:solidFill>
                <a:latin typeface="Aptos"/>
              </a:rPr>
              <a:t>One platform. Faster coordination. Fewer manual errors. Greater transparency.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33375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A1B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03E"/>
                </a:solidFill>
                <a:latin typeface="Aptos"/>
              </a:rPr>
              <a:t>Faster Emergency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Automated organ matching and blood SOS remove manual lookup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3375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542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8E3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03E"/>
                </a:solidFill>
                <a:latin typeface="Aptos"/>
              </a:rPr>
              <a:t>Fewer Manual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Safety checks, stock synchronization, and automated billing reduce error-prone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31720"/>
            <a:ext cx="33375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542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996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03E"/>
                </a:solidFill>
                <a:latin typeface="Aptos"/>
              </a:rPr>
              <a:t>Greater 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6616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B36"/>
                </a:solidFill>
                <a:latin typeface="Aptos"/>
              </a:rPr>
              <a:t>Family updates, bed visibility, and claim tracking create a shared view of care.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424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D6EB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5349240"/>
            <a:ext cx="2423160" cy="384048"/>
          </a:xfrm>
          <a:prstGeom prst="roundRect">
            <a:avLst/>
          </a:prstGeom>
          <a:solidFill>
            <a:srgbClr val="1D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CareGrid.io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CareGrid.io Project Idea Presentation</dc:title>
  <dc:subject>Software Engineering Laboratory - CSE 3422</dc:subject>
  <dc:creator>Team MedMatrix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